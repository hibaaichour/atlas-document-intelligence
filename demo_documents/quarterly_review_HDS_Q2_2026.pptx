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0C7C7A"/>
                </a:solidFill>
                <a:latin typeface="Arial"/>
              </a:rPr>
              <a:t>Quarterly Business Review - Q2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6323A"/>
                </a:solidFill>
                <a:latin typeface="Arial"/>
              </a:rPr>
              <a:t>Orion Freight Co. account - April to June 2026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6323A"/>
                </a:solidFill>
                <a:latin typeface="Arial"/>
              </a:rPr>
              <a:t>Helix Data Services Ltd. - Agreement No. HDS-2026-014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5B7278"/>
                </a:solidFill>
                <a:latin typeface="Arial"/>
              </a:rPr>
              <a:t>Prepared on 8 July 2026 by Priya Nair, Account Director, Helix Data Services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B7278"/>
                </a:solidFill>
                <a:latin typeface="Arial"/>
              </a:rPr>
              <a:t>Fictional document created for demonstration purposes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0C7C7A"/>
                </a:solidFill>
                <a:latin typeface="Arial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" cy="54864"/>
          </a:xfrm>
          <a:prstGeom prst="rect">
            <a:avLst/>
          </a:prstGeom>
          <a:solidFill>
            <a:srgbClr val="FF7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B7278"/>
                </a:solidFill>
                <a:latin typeface="Arial"/>
              </a:rPr>
              <a:t>Quarterly Business Review Q2 2026 - Orion Freight Co. - Helix Data Services Ltd. - 2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6323A"/>
                </a:solidFill>
                <a:latin typeface="Arial"/>
              </a:rPr>
              <a:t>•  Onboarding completed on 24 April 2026, within the eight-week period of Article 2.2.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6323A"/>
                </a:solidFill>
                <a:latin typeface="Arial"/>
              </a:rPr>
              <a:t>•  Average platform availability over the quarter: 99.74%. May 2026 was below the 99.5% target.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6323A"/>
                </a:solidFill>
                <a:latin typeface="Arial"/>
              </a:rPr>
              <a:t>•  Two critical incidents, both answered within two hours.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6323A"/>
                </a:solidFill>
                <a:latin typeface="Arial"/>
              </a:rPr>
              <a:t>•  Total invoiced in Q2 2026: USD 45,370.00.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6323A"/>
                </a:solidFill>
                <a:latin typeface="Arial"/>
              </a:rPr>
              <a:t>•  Next quarterly review: October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0C7C7A"/>
                </a:solidFill>
                <a:latin typeface="Arial"/>
              </a:rPr>
              <a:t>Service levels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" cy="54864"/>
          </a:xfrm>
          <a:prstGeom prst="rect">
            <a:avLst/>
          </a:prstGeom>
          <a:solidFill>
            <a:srgbClr val="FF7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B7278"/>
                </a:solidFill>
                <a:latin typeface="Arial"/>
              </a:rPr>
              <a:t>Quarterly Business Review Q2 2026 - Orion Freight Co. - Helix Data Services Ltd. - 3 /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115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Month</a:t>
                      </a:r>
                    </a:p>
                  </a:txBody>
                  <a:tcPr>
                    <a:solidFill>
                      <a:srgbClr val="0C7C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Availability</a:t>
                      </a:r>
                    </a:p>
                  </a:txBody>
                  <a:tcPr>
                    <a:solidFill>
                      <a:srgbClr val="0C7C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0C7C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Critical incidents</a:t>
                      </a:r>
                    </a:p>
                  </a:txBody>
                  <a:tcPr>
                    <a:solidFill>
                      <a:srgbClr val="0C7C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Max response time</a:t>
                      </a:r>
                    </a:p>
                  </a:txBody>
                  <a:tcPr>
                    <a:solidFill>
                      <a:srgbClr val="0C7C7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April 2026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99.91%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99.5%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May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99.38%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99.5%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1 h 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June 2026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99.94%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99.5%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02336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5B7278"/>
                </a:solidFill>
                <a:latin typeface="Arial"/>
              </a:rPr>
              <a:t>Availability excludes planned maintenance announced at least five Business Days in advance (Article 2.5).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0C7C7A"/>
                </a:solidFill>
                <a:latin typeface="Arial"/>
              </a:rPr>
              <a:t>Usage and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" cy="54864"/>
          </a:xfrm>
          <a:prstGeom prst="rect">
            <a:avLst/>
          </a:prstGeom>
          <a:solidFill>
            <a:srgbClr val="FF7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B7278"/>
                </a:solidFill>
                <a:latin typeface="Arial"/>
              </a:rPr>
              <a:t>Quarterly Business Review Q2 2026 - Orion Freight Co. - Helix Data Services Ltd. - 4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6323A"/>
                </a:solidFill>
                <a:latin typeface="Arial"/>
              </a:rPr>
              <a:t>•  Active platform users: 42 in April, 51 in May and 58 in June 2026.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6323A"/>
                </a:solidFill>
                <a:latin typeface="Arial"/>
              </a:rPr>
              <a:t>•  Shipments processed: 184,300 in April, 197,650 in May and 205,120 in June 2026.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6323A"/>
                </a:solidFill>
                <a:latin typeface="Arial"/>
              </a:rPr>
              <a:t>•  Monthly operations reports delivered on time: 3 of 3.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6323A"/>
                </a:solidFill>
                <a:latin typeface="Arial"/>
              </a:rPr>
              <a:t>•  Support tickets opened in the quarter: 37, of which 35 are resolved.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0C7C7A"/>
                </a:solidFill>
                <a:latin typeface="Arial"/>
              </a:rPr>
              <a:t>Fees invoiced in Q2 2026 (USD)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" cy="54864"/>
          </a:xfrm>
          <a:prstGeom prst="rect">
            <a:avLst/>
          </a:prstGeom>
          <a:solidFill>
            <a:srgbClr val="FF7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B7278"/>
                </a:solidFill>
                <a:latin typeface="Arial"/>
              </a:rPr>
              <a:t>Quarterly Business Review Q2 2026 - Orion Freight Co. - Helix Data Services Ltd. - 5 /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115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Invoice</a:t>
                      </a:r>
                    </a:p>
                  </a:txBody>
                  <a:tcPr>
                    <a:solidFill>
                      <a:srgbClr val="0C7C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C7C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Monthly Fee</a:t>
                      </a:r>
                    </a:p>
                  </a:txBody>
                  <a:tcPr>
                    <a:solidFill>
                      <a:srgbClr val="0C7C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Extras</a:t>
                      </a:r>
                    </a:p>
                  </a:txBody>
                  <a:tcPr>
                    <a:solidFill>
                      <a:srgbClr val="0C7C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C7C7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HDS-INV-2026-0042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1 April 2026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12,500.00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3,450.00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15,950.00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HDS-INV-2026-0057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1 May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12,500.00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2,980.00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15,480.00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HDS-INV-2026-0071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1 June 2026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12,500.00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1,440.00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323A"/>
                          </a:solidFill>
                          <a:latin typeface="Arial"/>
                        </a:rPr>
                        <a:t>13,940.00</a:t>
                      </a:r>
                    </a:p>
                  </a:txBody>
                  <a:tcPr>
                    <a:solidFill>
                      <a:srgbClr val="E8F4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02336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323A"/>
                </a:solidFill>
                <a:latin typeface="Arial"/>
              </a:rPr>
              <a:t>Total invoiced in the quarter: USD 45,370.00. All invoices were paid within 30 days.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323A"/>
                </a:solidFill>
                <a:latin typeface="Arial"/>
              </a:rPr>
              <a:t>Extras are additional user licences (USD 40 per user per month) and extra consulting days (USD 950 per day) of the previous month, invoiced in arrears.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0C7C7A"/>
                </a:solidFill>
                <a:latin typeface="Arial"/>
              </a:rPr>
              <a:t>Risks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" cy="54864"/>
          </a:xfrm>
          <a:prstGeom prst="rect">
            <a:avLst/>
          </a:prstGeom>
          <a:solidFill>
            <a:srgbClr val="FF7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B7278"/>
                </a:solidFill>
                <a:latin typeface="Arial"/>
              </a:rPr>
              <a:t>Quarterly Business Review Q2 2026 - Orion Freight Co. - Helix Data Services Ltd. - 6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6323A"/>
                </a:solidFill>
                <a:latin typeface="Arial"/>
              </a:rPr>
              <a:t>•  On 14 May 2026, a storage failure in the primary region (Frankfurt) made the platform unavailable for 4 h 37 min.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6323A"/>
                </a:solidFill>
                <a:latin typeface="Arial"/>
              </a:rPr>
              <a:t>•  May availability (99.38%) gives a service credit of USD 625.00 (5% of the Monthly Fee, Article 2.6), deducted from the July 2026 invoice.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6323A"/>
                </a:solidFill>
                <a:latin typeface="Arial"/>
              </a:rPr>
              <a:t>•  A price review is not possible before March 2027 (Article 3.6).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6323A"/>
                </a:solidFill>
                <a:latin typeface="Arial"/>
              </a:rPr>
              <a:t>•  Next quarterly review: October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Business Review - Q2 2026</dc:title>
  <dc:subject/>
  <dc:creator>Helix Data Services Ltd. (fictional)</dc:creator>
  <cp:keywords/>
  <dc:description>generated using python-pptx</dc:description>
  <cp:lastModifiedBy>ATLAS demo script</cp:lastModifiedBy>
  <cp:revision>1</cp:revision>
  <dcterms:created xsi:type="dcterms:W3CDTF">2026-07-08T09:00:00Z</dcterms:created>
  <dcterms:modified xsi:type="dcterms:W3CDTF">2026-07-08T09:00:00Z</dcterms:modified>
  <cp:category/>
  <cp:lastPrinted>2026-07-08T09:00:00Z</cp:lastPrinted>
</cp:coreProperties>
</file>